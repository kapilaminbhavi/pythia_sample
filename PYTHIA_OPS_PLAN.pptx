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Montserrat Black"/>
      <p:regular r:id="rId17"/>
    </p:embeddedFont>
    <p:embeddedFont>
      <p:font typeface="Montserrat Black"/>
      <p:regular r:id="rId18"/>
    </p:embeddedFont>
    <p:embeddedFont>
      <p:font typeface="Inconsolata"/>
      <p:regular r:id="rId19"/>
    </p:embeddedFont>
    <p:embeddedFont>
      <p:font typeface="Inconsolata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6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726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PYTHIA 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221593"/>
            <a:ext cx="13042821" cy="2835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6-Week Delivery Plan</a:t>
            </a:r>
            <a:endParaRPr lang="en-US" sz="8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2699" y="506492"/>
            <a:ext cx="5353407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BAB6A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DELIVERY TIMELINE &amp; MODEL EVALUATION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2699" y="866775"/>
            <a:ext cx="6408420" cy="573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6-Week Sprint Milestones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2699" y="1716048"/>
            <a:ext cx="183594" cy="229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2699" y="2005132"/>
            <a:ext cx="6580703" cy="2286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6" name="Text 4"/>
          <p:cNvSpPr/>
          <p:nvPr/>
        </p:nvSpPr>
        <p:spPr>
          <a:xfrm>
            <a:off x="642699" y="2142649"/>
            <a:ext cx="4189095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Foundation &amp; Infrastructure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642699" y="2596991"/>
            <a:ext cx="658070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Week 1-2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2699" y="3000851"/>
            <a:ext cx="658070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Data ingestion pipeline with multi-tenant isolation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2699" y="3358753"/>
            <a:ext cx="658070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PostgreSQL + Redis feature store, FastAPI microservice + CI/CD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2699" y="3762613"/>
            <a:ext cx="658070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Deliverable:</a:t>
            </a:r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Working data pipeline, API with health checks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06997" y="1716048"/>
            <a:ext cx="183594" cy="229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06997" y="2005132"/>
            <a:ext cx="6580703" cy="2286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3" name="Text 11"/>
          <p:cNvSpPr/>
          <p:nvPr/>
        </p:nvSpPr>
        <p:spPr>
          <a:xfrm>
            <a:off x="7406997" y="2142649"/>
            <a:ext cx="3525203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AI Models &amp; Integration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7406997" y="2596991"/>
            <a:ext cx="658070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06997" y="3000851"/>
            <a:ext cx="6580703" cy="58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Azure OpenAI integration, Anomaly detection (Isolation Forest), Churn prediction (XGBoost)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06997" y="3652480"/>
            <a:ext cx="658070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Prompt versioning system + Model evaluation framework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06997" y="4056340"/>
            <a:ext cx="658070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Deliverable:</a:t>
            </a:r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3 production-ready models with safety filters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2699" y="4671298"/>
            <a:ext cx="183594" cy="229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2699" y="4960382"/>
            <a:ext cx="6580703" cy="2286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0" name="Text 18"/>
          <p:cNvSpPr/>
          <p:nvPr/>
        </p:nvSpPr>
        <p:spPr>
          <a:xfrm>
            <a:off x="642699" y="5097899"/>
            <a:ext cx="3434953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Testing &amp; Optimization</a:t>
            </a:r>
            <a:endParaRPr lang="en-US" sz="2150" dirty="0"/>
          </a:p>
        </p:txBody>
      </p:sp>
      <p:sp>
        <p:nvSpPr>
          <p:cNvPr id="21" name="Text 19"/>
          <p:cNvSpPr/>
          <p:nvPr/>
        </p:nvSpPr>
        <p:spPr>
          <a:xfrm>
            <a:off x="642699" y="5552242"/>
            <a:ext cx="658070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Week 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2699" y="5956102"/>
            <a:ext cx="658070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Load testing, caching (60%+ hit rate), unit tests (80% coverage)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2699" y="6314003"/>
            <a:ext cx="658070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Grafana dashboards, cost optimization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2699" y="6717863"/>
            <a:ext cx="658070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Deliverable:</a:t>
            </a:r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Performance benchmarks (p95 &lt; 500ms), cost analysis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06997" y="4671298"/>
            <a:ext cx="183594" cy="229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406997" y="4960382"/>
            <a:ext cx="6580703" cy="2286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7" name="Text 25"/>
          <p:cNvSpPr/>
          <p:nvPr/>
        </p:nvSpPr>
        <p:spPr>
          <a:xfrm>
            <a:off x="7406997" y="5097899"/>
            <a:ext cx="3590449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Production Deployment</a:t>
            </a:r>
            <a:endParaRPr lang="en-US" sz="2150" dirty="0"/>
          </a:p>
        </p:txBody>
      </p:sp>
      <p:sp>
        <p:nvSpPr>
          <p:cNvPr id="28" name="Text 26"/>
          <p:cNvSpPr/>
          <p:nvPr/>
        </p:nvSpPr>
        <p:spPr>
          <a:xfrm>
            <a:off x="7406997" y="5552242"/>
            <a:ext cx="658070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Week 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06997" y="5956102"/>
            <a:ext cx="658070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Canary deployment, security audit, documentation, incident playbooks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06997" y="6359962"/>
            <a:ext cx="658070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Deliverable:</a:t>
            </a:r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Production launch with zero P1 incidents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2699" y="7355800"/>
            <a:ext cx="13345001" cy="367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Time Allocation:</a:t>
            </a:r>
            <a:pPr algn="l"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70% Delivery | 20% Experimentation | 10% Technical Debt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429" y="949404"/>
            <a:ext cx="6529745" cy="545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Model Evaluation Approach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63429" y="2040017"/>
            <a:ext cx="3507105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LLM Summarization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763429" y="2667119"/>
            <a:ext cx="6285667" cy="69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Automated: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ROUGE scores, semantic similarity, toxicity detection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63429" y="3441382"/>
            <a:ext cx="6285667" cy="69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Human: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Weekly 50-sample review (relevance, accuracy, actionability)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63429" y="4215646"/>
            <a:ext cx="6285667" cy="348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Target: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User satisfaction &gt; 4.0/5, hallucination &lt; 2%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3429" y="4782741"/>
            <a:ext cx="3439716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Anomaly Detection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763429" y="5409843"/>
            <a:ext cx="6285667" cy="348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Metrics: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Precision &gt; 0.75, Recall &gt; 0.70, F1 &gt; 0.72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3429" y="5835134"/>
            <a:ext cx="6285667" cy="348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Validation: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Labeled dataset, 30-day rolling evaluation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63429" y="6260425"/>
            <a:ext cx="6285667" cy="348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Target: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False positive &lt; 5%, latency &lt; 200ms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588925" y="2040017"/>
            <a:ext cx="3272076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Predictive Models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7588925" y="2667119"/>
            <a:ext cx="6285667" cy="348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Metrics: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ROC-AUC &gt; 0.80, Precision@10% &gt; 0.60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588925" y="3092410"/>
            <a:ext cx="6285667" cy="348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Testing: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20% holdout, temporal validation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588925" y="3517702"/>
            <a:ext cx="6285667" cy="348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Target: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Measured business impact ($)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588925" y="4112062"/>
            <a:ext cx="6285667" cy="2183725"/>
          </a:xfrm>
          <a:prstGeom prst="roundRect">
            <a:avLst>
              <a:gd name="adj" fmla="val 419"/>
            </a:avLst>
          </a:prstGeom>
          <a:solidFill>
            <a:srgbClr val="D7D9DA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7047" y="4412813"/>
            <a:ext cx="340757" cy="27265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365927" y="4384715"/>
            <a:ext cx="3600212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Production Gate Criteria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8365927" y="4943594"/>
            <a:ext cx="5290542" cy="104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✓ Accuracy within 5% of baseline | ✓ p95 latency &lt; 500ms | ✓ No tenant data leakage | ✓ 100% toxicity filter | ✓ Cost &lt; $0.05/insight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763429" y="6931104"/>
            <a:ext cx="13103543" cy="348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Continuous Monitoring: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Daily (errors, distributions) | Weekly (drift, cost) | Monthly (retraining, bias audits)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67188"/>
            <a:ext cx="68921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BAB6A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COMMUNICATION &amp; INCIDENT MANAGEMENT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2712244"/>
            <a:ext cx="825067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Team Communication Plan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3511748"/>
            <a:ext cx="554605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Squad Structure (3 Engineers)</a:t>
            </a:r>
            <a:endParaRPr lang="en-US" sz="2650" dirty="0"/>
          </a:p>
        </p:txBody>
      </p:sp>
      <p:sp>
        <p:nvSpPr>
          <p:cNvPr id="5" name="Shape 3"/>
          <p:cNvSpPr/>
          <p:nvPr/>
        </p:nvSpPr>
        <p:spPr>
          <a:xfrm>
            <a:off x="793790" y="4277201"/>
            <a:ext cx="4196358" cy="1685092"/>
          </a:xfrm>
          <a:prstGeom prst="roundRect">
            <a:avLst>
              <a:gd name="adj" fmla="val 543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0320" dir="2700000">
              <a:srgbClr val="151617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28224" y="45116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ML Engineer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8224" y="5002054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Model development, prompt engineering, evaluation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4277201"/>
            <a:ext cx="4196358" cy="1685092"/>
          </a:xfrm>
          <a:prstGeom prst="roundRect">
            <a:avLst>
              <a:gd name="adj" fmla="val 543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0320" dir="2700000">
              <a:srgbClr val="151617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51396" y="45116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 Engineer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51396" y="5002054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Pipelines, ETL, feature store, data quality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4277201"/>
            <a:ext cx="4196358" cy="1685092"/>
          </a:xfrm>
          <a:prstGeom prst="roundRect">
            <a:avLst>
              <a:gd name="adj" fmla="val 543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0320" dir="2700000">
              <a:srgbClr val="151617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874568" y="45116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MLOps Engineer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874568" y="5002054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CI/CD, infrastructure, monitoring, incidents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1301"/>
            <a:ext cx="600182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Communication Rhythm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1901904"/>
            <a:ext cx="6407944" cy="2119313"/>
          </a:xfrm>
          <a:prstGeom prst="roundRect">
            <a:avLst>
              <a:gd name="adj" fmla="val 431"/>
            </a:avLst>
          </a:prstGeom>
          <a:solidFill>
            <a:srgbClr val="F8ECE4"/>
          </a:solidFill>
          <a:ln w="3048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0320" dir="2700000">
              <a:srgbClr val="151617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4270" y="1932384"/>
            <a:ext cx="6346984" cy="680442"/>
          </a:xfrm>
          <a:prstGeom prst="rect">
            <a:avLst/>
          </a:prstGeom>
          <a:solidFill>
            <a:srgbClr val="F8ECE4"/>
          </a:solidFill>
          <a:ln/>
          <a:effectLst>
            <a:outerShdw sx="100000" sy="100000" kx="0" ky="0" algn="bl" rotWithShape="0" blurRad="0" dist="20320" dir="2700000">
              <a:srgbClr val="151617">
                <a:alpha val="10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7621" y="2098596"/>
            <a:ext cx="340162" cy="340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084" y="2839641"/>
            <a:ext cx="393061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Daily (Async - 15 min)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1051084" y="3401020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Slack standup by 10 AM (progress, blockers)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1901904"/>
            <a:ext cx="6408063" cy="2119313"/>
          </a:xfrm>
          <a:prstGeom prst="roundRect">
            <a:avLst>
              <a:gd name="adj" fmla="val 431"/>
            </a:avLst>
          </a:prstGeom>
          <a:solidFill>
            <a:srgbClr val="F8ECE4"/>
          </a:solidFill>
          <a:ln w="3048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0320" dir="2700000">
              <a:srgbClr val="151617">
                <a:alpha val="10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59027" y="1932384"/>
            <a:ext cx="6347103" cy="680442"/>
          </a:xfrm>
          <a:prstGeom prst="rect">
            <a:avLst/>
          </a:prstGeom>
          <a:solidFill>
            <a:srgbClr val="F8ECE4"/>
          </a:solidFill>
          <a:ln/>
          <a:effectLst>
            <a:outerShdw sx="100000" sy="100000" kx="0" ky="0" algn="bl" rotWithShape="0" blurRad="0" dist="20320" dir="2700000">
              <a:srgbClr val="151617">
                <a:alpha val="10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62498" y="2098596"/>
            <a:ext cx="340162" cy="3401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85842" y="283964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Monday (1 hour)</a:t>
            </a:r>
            <a:endParaRPr lang="en-US" sz="2650" dirty="0"/>
          </a:p>
        </p:txBody>
      </p:sp>
      <p:sp>
        <p:nvSpPr>
          <p:cNvPr id="12" name="Text 8"/>
          <p:cNvSpPr/>
          <p:nvPr/>
        </p:nvSpPr>
        <p:spPr>
          <a:xfrm>
            <a:off x="7685842" y="3401020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Sprint planning with dependencies identified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248031"/>
            <a:ext cx="6407944" cy="2482215"/>
          </a:xfrm>
          <a:prstGeom prst="roundRect">
            <a:avLst>
              <a:gd name="adj" fmla="val 368"/>
            </a:avLst>
          </a:prstGeom>
          <a:solidFill>
            <a:srgbClr val="F8ECE4"/>
          </a:solidFill>
          <a:ln w="3048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0320" dir="2700000">
              <a:srgbClr val="151617">
                <a:alpha val="10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4270" y="4278511"/>
            <a:ext cx="6346984" cy="680442"/>
          </a:xfrm>
          <a:prstGeom prst="rect">
            <a:avLst/>
          </a:prstGeom>
          <a:solidFill>
            <a:srgbClr val="F8ECE4"/>
          </a:solidFill>
          <a:ln/>
          <a:effectLst>
            <a:outerShdw sx="100000" sy="100000" kx="0" ky="0" algn="bl" rotWithShape="0" blurRad="0" dist="20320" dir="2700000">
              <a:srgbClr val="151617">
                <a:alpha val="10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27621" y="4444722"/>
            <a:ext cx="340162" cy="3401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084" y="5185767"/>
            <a:ext cx="379892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Wednesday (45 min)</a:t>
            </a:r>
            <a:endParaRPr lang="en-US" sz="2650" dirty="0"/>
          </a:p>
        </p:txBody>
      </p:sp>
      <p:sp>
        <p:nvSpPr>
          <p:cNvPr id="17" name="Text 12"/>
          <p:cNvSpPr/>
          <p:nvPr/>
        </p:nvSpPr>
        <p:spPr>
          <a:xfrm>
            <a:off x="1051084" y="5747147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Model review (metrics, failures, optimization)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248031"/>
            <a:ext cx="6408063" cy="2482215"/>
          </a:xfrm>
          <a:prstGeom prst="roundRect">
            <a:avLst>
              <a:gd name="adj" fmla="val 368"/>
            </a:avLst>
          </a:prstGeom>
          <a:solidFill>
            <a:srgbClr val="F8ECE4"/>
          </a:solidFill>
          <a:ln w="3048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0320" dir="2700000">
              <a:srgbClr val="151617">
                <a:alpha val="10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459027" y="4278511"/>
            <a:ext cx="6347103" cy="680442"/>
          </a:xfrm>
          <a:prstGeom prst="rect">
            <a:avLst/>
          </a:prstGeom>
          <a:solidFill>
            <a:srgbClr val="F8ECE4"/>
          </a:solidFill>
          <a:ln/>
          <a:effectLst>
            <a:outerShdw sx="100000" sy="100000" kx="0" ky="0" algn="bl" rotWithShape="0" blurRad="0" dist="20320" dir="2700000">
              <a:srgbClr val="151617">
                <a:alpha val="10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62498" y="4444722"/>
            <a:ext cx="340162" cy="34016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85842" y="518576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Friday (30 min)</a:t>
            </a:r>
            <a:endParaRPr lang="en-US" sz="2650" dirty="0"/>
          </a:p>
        </p:txBody>
      </p:sp>
      <p:sp>
        <p:nvSpPr>
          <p:cNvPr id="22" name="Text 16"/>
          <p:cNvSpPr/>
          <p:nvPr/>
        </p:nvSpPr>
        <p:spPr>
          <a:xfrm>
            <a:off x="7685842" y="5747147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Cross-team sync with backend/frontend + weekly leadership email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793790" y="698539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Documentation: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Notion (ADRs, model cards, runbooks) | Code (READMEs, docstrings, Swagger)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7193" y="755213"/>
            <a:ext cx="4299942" cy="283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Incident Handling &amp; Fallback Logic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397193" y="1084183"/>
            <a:ext cx="2958108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Fallback Architecture (Cascade)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193" y="1467088"/>
            <a:ext cx="6918008" cy="4538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10659" y="2034421"/>
            <a:ext cx="1418630" cy="177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Primary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10659" y="2279809"/>
            <a:ext cx="669107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Azure OpenAI</a:t>
            </a:r>
            <a:endParaRPr lang="en-US" sz="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467088"/>
            <a:ext cx="6918008" cy="45386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28667" y="2034421"/>
            <a:ext cx="1418630" cy="177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Fallback 1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428667" y="2279809"/>
            <a:ext cx="669107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Anthropic Claude</a:t>
            </a:r>
            <a:endParaRPr lang="en-US" sz="8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93" y="2574727"/>
            <a:ext cx="6918008" cy="45386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10659" y="3142059"/>
            <a:ext cx="1418630" cy="177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Fallback 2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510659" y="3387447"/>
            <a:ext cx="669107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Cached Insights</a:t>
            </a:r>
            <a:endParaRPr lang="en-US" sz="8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574727"/>
            <a:ext cx="6918008" cy="45386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28667" y="3142059"/>
            <a:ext cx="1418630" cy="177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Fallback 3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7428667" y="3387447"/>
            <a:ext cx="669107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Rule-Based Analysis</a:t>
            </a:r>
            <a:endParaRPr lang="en-US" sz="850" dirty="0"/>
          </a:p>
        </p:txBody>
      </p:sp>
      <p:sp>
        <p:nvSpPr>
          <p:cNvPr id="16" name="Shape 10"/>
          <p:cNvSpPr/>
          <p:nvPr/>
        </p:nvSpPr>
        <p:spPr>
          <a:xfrm>
            <a:off x="397193" y="3810000"/>
            <a:ext cx="13836015" cy="481965"/>
          </a:xfrm>
          <a:prstGeom prst="roundRect">
            <a:avLst>
              <a:gd name="adj" fmla="val 1897"/>
            </a:avLst>
          </a:prstGeom>
          <a:solidFill>
            <a:srgbClr val="D7D9DA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659" y="3974425"/>
            <a:ext cx="141803" cy="11346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65929" y="3951803"/>
            <a:ext cx="1335381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Always return response with quality metadata. Never 500 errors to users.</a:t>
            </a:r>
            <a:endParaRPr lang="en-US" sz="850" dirty="0"/>
          </a:p>
        </p:txBody>
      </p:sp>
      <p:sp>
        <p:nvSpPr>
          <p:cNvPr id="19" name="Text 12"/>
          <p:cNvSpPr/>
          <p:nvPr/>
        </p:nvSpPr>
        <p:spPr>
          <a:xfrm>
            <a:off x="397193" y="4462105"/>
            <a:ext cx="2874764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Common Incidents &amp; Response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397193" y="4845010"/>
            <a:ext cx="13836015" cy="2011204"/>
          </a:xfrm>
          <a:prstGeom prst="roundRect">
            <a:avLst>
              <a:gd name="adj" fmla="val 45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404813" y="4852630"/>
            <a:ext cx="13820775" cy="3326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15"/>
          <p:cNvSpPr/>
          <p:nvPr/>
        </p:nvSpPr>
        <p:spPr>
          <a:xfrm>
            <a:off x="518279" y="4928235"/>
            <a:ext cx="253341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Incident</a:t>
            </a:r>
            <a:endParaRPr lang="en-US" sz="850" dirty="0"/>
          </a:p>
        </p:txBody>
      </p:sp>
      <p:sp>
        <p:nvSpPr>
          <p:cNvPr id="23" name="Text 16"/>
          <p:cNvSpPr/>
          <p:nvPr/>
        </p:nvSpPr>
        <p:spPr>
          <a:xfrm>
            <a:off x="3286244" y="4928235"/>
            <a:ext cx="252960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Severity</a:t>
            </a:r>
            <a:endParaRPr lang="en-US" sz="850" dirty="0"/>
          </a:p>
        </p:txBody>
      </p:sp>
      <p:sp>
        <p:nvSpPr>
          <p:cNvPr id="24" name="Text 17"/>
          <p:cNvSpPr/>
          <p:nvPr/>
        </p:nvSpPr>
        <p:spPr>
          <a:xfrm>
            <a:off x="6050399" y="4928235"/>
            <a:ext cx="252960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Detection</a:t>
            </a:r>
            <a:endParaRPr lang="en-US" sz="850" dirty="0"/>
          </a:p>
        </p:txBody>
      </p:sp>
      <p:sp>
        <p:nvSpPr>
          <p:cNvPr id="25" name="Text 18"/>
          <p:cNvSpPr/>
          <p:nvPr/>
        </p:nvSpPr>
        <p:spPr>
          <a:xfrm>
            <a:off x="8814554" y="4928235"/>
            <a:ext cx="252960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Fallback Strategy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11578709" y="4928235"/>
            <a:ext cx="253341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SLA</a:t>
            </a:r>
            <a:endParaRPr lang="en-US" sz="850" dirty="0"/>
          </a:p>
        </p:txBody>
      </p:sp>
      <p:sp>
        <p:nvSpPr>
          <p:cNvPr id="27" name="Shape 20"/>
          <p:cNvSpPr/>
          <p:nvPr/>
        </p:nvSpPr>
        <p:spPr>
          <a:xfrm>
            <a:off x="404813" y="5185291"/>
            <a:ext cx="13820775" cy="3326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8" name="Text 21"/>
          <p:cNvSpPr/>
          <p:nvPr/>
        </p:nvSpPr>
        <p:spPr>
          <a:xfrm>
            <a:off x="518279" y="5260896"/>
            <a:ext cx="253341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LLM API Outage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3286244" y="5260896"/>
            <a:ext cx="252960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P1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6050399" y="5260896"/>
            <a:ext cx="252960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503/429 errors, latency &gt; 30s</a:t>
            </a:r>
            <a:endParaRPr lang="en-US" sz="850" dirty="0"/>
          </a:p>
        </p:txBody>
      </p:sp>
      <p:sp>
        <p:nvSpPr>
          <p:cNvPr id="31" name="Text 24"/>
          <p:cNvSpPr/>
          <p:nvPr/>
        </p:nvSpPr>
        <p:spPr>
          <a:xfrm>
            <a:off x="8814554" y="5260896"/>
            <a:ext cx="252960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Auto-switch to Claude → Cache → Rules</a:t>
            </a:r>
            <a:endParaRPr lang="en-US" sz="850" dirty="0"/>
          </a:p>
        </p:txBody>
      </p:sp>
      <p:sp>
        <p:nvSpPr>
          <p:cNvPr id="32" name="Text 25"/>
          <p:cNvSpPr/>
          <p:nvPr/>
        </p:nvSpPr>
        <p:spPr>
          <a:xfrm>
            <a:off x="11578709" y="5260896"/>
            <a:ext cx="253341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Immediate</a:t>
            </a:r>
            <a:endParaRPr lang="en-US" sz="850" dirty="0"/>
          </a:p>
        </p:txBody>
      </p:sp>
      <p:sp>
        <p:nvSpPr>
          <p:cNvPr id="33" name="Shape 26"/>
          <p:cNvSpPr/>
          <p:nvPr/>
        </p:nvSpPr>
        <p:spPr>
          <a:xfrm>
            <a:off x="404813" y="5517952"/>
            <a:ext cx="13820775" cy="3326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4" name="Text 27"/>
          <p:cNvSpPr/>
          <p:nvPr/>
        </p:nvSpPr>
        <p:spPr>
          <a:xfrm>
            <a:off x="518279" y="5593556"/>
            <a:ext cx="253341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Model Drift</a:t>
            </a:r>
            <a:endParaRPr lang="en-US" sz="850" dirty="0"/>
          </a:p>
        </p:txBody>
      </p:sp>
      <p:sp>
        <p:nvSpPr>
          <p:cNvPr id="35" name="Text 28"/>
          <p:cNvSpPr/>
          <p:nvPr/>
        </p:nvSpPr>
        <p:spPr>
          <a:xfrm>
            <a:off x="3286244" y="5593556"/>
            <a:ext cx="252960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P2</a:t>
            </a:r>
            <a:endParaRPr lang="en-US" sz="850" dirty="0"/>
          </a:p>
        </p:txBody>
      </p:sp>
      <p:sp>
        <p:nvSpPr>
          <p:cNvPr id="36" name="Text 29"/>
          <p:cNvSpPr/>
          <p:nvPr/>
        </p:nvSpPr>
        <p:spPr>
          <a:xfrm>
            <a:off x="6050399" y="5593556"/>
            <a:ext cx="252960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Accuracy drops &gt; 10% (3 days)</a:t>
            </a:r>
            <a:endParaRPr lang="en-US" sz="850" dirty="0"/>
          </a:p>
        </p:txBody>
      </p:sp>
      <p:sp>
        <p:nvSpPr>
          <p:cNvPr id="37" name="Text 30"/>
          <p:cNvSpPr/>
          <p:nvPr/>
        </p:nvSpPr>
        <p:spPr>
          <a:xfrm>
            <a:off x="8814554" y="5593556"/>
            <a:ext cx="252960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Rollback to v-1, schedule retraining</a:t>
            </a:r>
            <a:endParaRPr lang="en-US" sz="850" dirty="0"/>
          </a:p>
        </p:txBody>
      </p:sp>
      <p:sp>
        <p:nvSpPr>
          <p:cNvPr id="38" name="Text 31"/>
          <p:cNvSpPr/>
          <p:nvPr/>
        </p:nvSpPr>
        <p:spPr>
          <a:xfrm>
            <a:off x="11578709" y="5593556"/>
            <a:ext cx="253341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&lt; 1 hour</a:t>
            </a:r>
            <a:endParaRPr lang="en-US" sz="850" dirty="0"/>
          </a:p>
        </p:txBody>
      </p:sp>
      <p:sp>
        <p:nvSpPr>
          <p:cNvPr id="39" name="Shape 32"/>
          <p:cNvSpPr/>
          <p:nvPr/>
        </p:nvSpPr>
        <p:spPr>
          <a:xfrm>
            <a:off x="404813" y="5850612"/>
            <a:ext cx="13820775" cy="3326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0" name="Text 33"/>
          <p:cNvSpPr/>
          <p:nvPr/>
        </p:nvSpPr>
        <p:spPr>
          <a:xfrm>
            <a:off x="518279" y="5926217"/>
            <a:ext cx="253341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High Latency</a:t>
            </a:r>
            <a:endParaRPr lang="en-US" sz="850" dirty="0"/>
          </a:p>
        </p:txBody>
      </p:sp>
      <p:sp>
        <p:nvSpPr>
          <p:cNvPr id="41" name="Text 34"/>
          <p:cNvSpPr/>
          <p:nvPr/>
        </p:nvSpPr>
        <p:spPr>
          <a:xfrm>
            <a:off x="3286244" y="5926217"/>
            <a:ext cx="252960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P2</a:t>
            </a:r>
            <a:endParaRPr lang="en-US" sz="850" dirty="0"/>
          </a:p>
        </p:txBody>
      </p:sp>
      <p:sp>
        <p:nvSpPr>
          <p:cNvPr id="42" name="Text 35"/>
          <p:cNvSpPr/>
          <p:nvPr/>
        </p:nvSpPr>
        <p:spPr>
          <a:xfrm>
            <a:off x="6050399" y="5926217"/>
            <a:ext cx="252960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p95 &gt; 2s</a:t>
            </a:r>
            <a:endParaRPr lang="en-US" sz="850" dirty="0"/>
          </a:p>
        </p:txBody>
      </p:sp>
      <p:sp>
        <p:nvSpPr>
          <p:cNvPr id="43" name="Text 36"/>
          <p:cNvSpPr/>
          <p:nvPr/>
        </p:nvSpPr>
        <p:spPr>
          <a:xfrm>
            <a:off x="8814554" y="5926217"/>
            <a:ext cx="252960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Scale K8s pods, emergency cache mode</a:t>
            </a:r>
            <a:endParaRPr lang="en-US" sz="850" dirty="0"/>
          </a:p>
        </p:txBody>
      </p:sp>
      <p:sp>
        <p:nvSpPr>
          <p:cNvPr id="44" name="Text 37"/>
          <p:cNvSpPr/>
          <p:nvPr/>
        </p:nvSpPr>
        <p:spPr>
          <a:xfrm>
            <a:off x="11578709" y="5926217"/>
            <a:ext cx="253341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&lt; 30 min</a:t>
            </a:r>
            <a:endParaRPr lang="en-US" sz="850" dirty="0"/>
          </a:p>
        </p:txBody>
      </p:sp>
      <p:sp>
        <p:nvSpPr>
          <p:cNvPr id="45" name="Shape 38"/>
          <p:cNvSpPr/>
          <p:nvPr/>
        </p:nvSpPr>
        <p:spPr>
          <a:xfrm>
            <a:off x="404813" y="6183273"/>
            <a:ext cx="13820775" cy="3326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6" name="Text 39"/>
          <p:cNvSpPr/>
          <p:nvPr/>
        </p:nvSpPr>
        <p:spPr>
          <a:xfrm>
            <a:off x="518279" y="6258878"/>
            <a:ext cx="253341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Data Pipeline Fail</a:t>
            </a:r>
            <a:endParaRPr lang="en-US" sz="850" dirty="0"/>
          </a:p>
        </p:txBody>
      </p:sp>
      <p:sp>
        <p:nvSpPr>
          <p:cNvPr id="47" name="Text 40"/>
          <p:cNvSpPr/>
          <p:nvPr/>
        </p:nvSpPr>
        <p:spPr>
          <a:xfrm>
            <a:off x="3286244" y="6258878"/>
            <a:ext cx="252960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P3</a:t>
            </a:r>
            <a:endParaRPr lang="en-US" sz="850" dirty="0"/>
          </a:p>
        </p:txBody>
      </p:sp>
      <p:sp>
        <p:nvSpPr>
          <p:cNvPr id="48" name="Text 41"/>
          <p:cNvSpPr/>
          <p:nvPr/>
        </p:nvSpPr>
        <p:spPr>
          <a:xfrm>
            <a:off x="6050399" y="6258878"/>
            <a:ext cx="252960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No data in 2 hours</a:t>
            </a:r>
            <a:endParaRPr lang="en-US" sz="850" dirty="0"/>
          </a:p>
        </p:txBody>
      </p:sp>
      <p:sp>
        <p:nvSpPr>
          <p:cNvPr id="49" name="Text 42"/>
          <p:cNvSpPr/>
          <p:nvPr/>
        </p:nvSpPr>
        <p:spPr>
          <a:xfrm>
            <a:off x="8814554" y="6258878"/>
            <a:ext cx="252960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Serve stale data with timestamp warning</a:t>
            </a:r>
            <a:endParaRPr lang="en-US" sz="850" dirty="0"/>
          </a:p>
        </p:txBody>
      </p:sp>
      <p:sp>
        <p:nvSpPr>
          <p:cNvPr id="50" name="Text 43"/>
          <p:cNvSpPr/>
          <p:nvPr/>
        </p:nvSpPr>
        <p:spPr>
          <a:xfrm>
            <a:off x="11578709" y="6258878"/>
            <a:ext cx="253341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&lt; 2 hours</a:t>
            </a:r>
            <a:endParaRPr lang="en-US" sz="850" dirty="0"/>
          </a:p>
        </p:txBody>
      </p:sp>
      <p:sp>
        <p:nvSpPr>
          <p:cNvPr id="51" name="Shape 44"/>
          <p:cNvSpPr/>
          <p:nvPr/>
        </p:nvSpPr>
        <p:spPr>
          <a:xfrm>
            <a:off x="404813" y="6515933"/>
            <a:ext cx="13820775" cy="3326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2" name="Text 45"/>
          <p:cNvSpPr/>
          <p:nvPr/>
        </p:nvSpPr>
        <p:spPr>
          <a:xfrm>
            <a:off x="518279" y="6591538"/>
            <a:ext cx="253341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Hallucinations</a:t>
            </a:r>
            <a:endParaRPr lang="en-US" sz="850" dirty="0"/>
          </a:p>
        </p:txBody>
      </p:sp>
      <p:sp>
        <p:nvSpPr>
          <p:cNvPr id="53" name="Text 46"/>
          <p:cNvSpPr/>
          <p:nvPr/>
        </p:nvSpPr>
        <p:spPr>
          <a:xfrm>
            <a:off x="3286244" y="6591538"/>
            <a:ext cx="252960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P2</a:t>
            </a:r>
            <a:endParaRPr lang="en-US" sz="850" dirty="0"/>
          </a:p>
        </p:txBody>
      </p:sp>
      <p:sp>
        <p:nvSpPr>
          <p:cNvPr id="54" name="Text 47"/>
          <p:cNvSpPr/>
          <p:nvPr/>
        </p:nvSpPr>
        <p:spPr>
          <a:xfrm>
            <a:off x="6050399" y="6591538"/>
            <a:ext cx="252960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User reports, safety flags</a:t>
            </a:r>
            <a:endParaRPr lang="en-US" sz="850" dirty="0"/>
          </a:p>
        </p:txBody>
      </p:sp>
      <p:sp>
        <p:nvSpPr>
          <p:cNvPr id="55" name="Text 48"/>
          <p:cNvSpPr/>
          <p:nvPr/>
        </p:nvSpPr>
        <p:spPr>
          <a:xfrm>
            <a:off x="8814554" y="6591538"/>
            <a:ext cx="252960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Disable prompt, use conservative template</a:t>
            </a:r>
            <a:endParaRPr lang="en-US" sz="850" dirty="0"/>
          </a:p>
        </p:txBody>
      </p:sp>
      <p:sp>
        <p:nvSpPr>
          <p:cNvPr id="56" name="Text 49"/>
          <p:cNvSpPr/>
          <p:nvPr/>
        </p:nvSpPr>
        <p:spPr>
          <a:xfrm>
            <a:off x="11578709" y="6591538"/>
            <a:ext cx="2533412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Immediate</a:t>
            </a:r>
            <a:endParaRPr lang="en-US" sz="850" dirty="0"/>
          </a:p>
        </p:txBody>
      </p:sp>
      <p:sp>
        <p:nvSpPr>
          <p:cNvPr id="57" name="Text 50"/>
          <p:cNvSpPr/>
          <p:nvPr/>
        </p:nvSpPr>
        <p:spPr>
          <a:xfrm>
            <a:off x="397193" y="6983849"/>
            <a:ext cx="13836015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On-Call: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7-day rotations, PagerDuty alerts | </a:t>
            </a:r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Escalation: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P1 → Manager immediately | Unresolved 1hr → Senior engineer | 4hr → Director</a:t>
            </a:r>
            <a:endParaRPr lang="en-US" sz="850" dirty="0"/>
          </a:p>
        </p:txBody>
      </p:sp>
      <p:sp>
        <p:nvSpPr>
          <p:cNvPr id="58" name="Text 51"/>
          <p:cNvSpPr/>
          <p:nvPr/>
        </p:nvSpPr>
        <p:spPr>
          <a:xfrm>
            <a:off x="397193" y="7292935"/>
            <a:ext cx="13836015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Postmortem: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Required for P1/P2 within 48 hours (blameless, timeline, root cause, action items)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0837"/>
            <a:ext cx="58473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BAB6A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SUCCESS METRICS &amp; RISK MITIGATION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425893"/>
            <a:ext cx="841569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Engineering Health Metrics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2701647"/>
            <a:ext cx="362854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Model Performance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33537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Model drift rate: &lt; 5%/month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7959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Prediction accuracy: &gt; 85%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2381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Hallucination rate: &lt; 2%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827865"/>
            <a:ext cx="426672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Operational Excellence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793790" y="547997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Latency p95: &lt; 500ms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592216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Uptime: &gt; 99.5%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636436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Error rate: &lt; 1%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680656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Cache hit rate: &gt; 60%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270164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Cost Efficiency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7599521" y="33537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Cost per insight: &lt; $0.05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99521" y="37959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Monthly LLM budget: &lt; $5,000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599521" y="42381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Savings via caching: ~40%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599521" y="4827865"/>
            <a:ext cx="4100036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Development Velocity</a:t>
            </a:r>
            <a:endParaRPr lang="en-US" sz="2650" dirty="0"/>
          </a:p>
        </p:txBody>
      </p:sp>
      <p:sp>
        <p:nvSpPr>
          <p:cNvPr id="18" name="Text 16"/>
          <p:cNvSpPr/>
          <p:nvPr/>
        </p:nvSpPr>
        <p:spPr>
          <a:xfrm>
            <a:off x="7599521" y="547997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Deploy frequency: 2x/week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599521" y="592216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Test coverage: &gt; 80%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599521" y="636436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Deployment success: &gt; 95%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16217"/>
            <a:ext cx="594788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Week 6 Success Criteria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3250168"/>
            <a:ext cx="386226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Technical Milestones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90227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✓ 3 models in production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34447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✓ p95 &lt; 500ms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78667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✓ Error rate &lt; 1%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22886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✓ Test coverage &gt; 80%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67106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✓ Zero critical vulnerabilities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3250168"/>
            <a:ext cx="364116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Business Outcomes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7599521" y="390227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✓ 10,000 insights/day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34447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✓ Cost &lt; $0.05/insight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478667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✓ User satisfaction &gt; 4.0/5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522886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✓ Zero P1 incidents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567106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✓ Documentation complete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5319"/>
            <a:ext cx="591240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Top 5 Risks &amp; Mitigation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006084"/>
            <a:ext cx="4196358" cy="2899648"/>
          </a:xfrm>
          <a:prstGeom prst="roundRect">
            <a:avLst>
              <a:gd name="adj" fmla="val 5046"/>
            </a:avLst>
          </a:prstGeom>
          <a:solidFill>
            <a:srgbClr val="F8ECE4"/>
          </a:solidFill>
          <a:ln/>
          <a:effectLst>
            <a:outerShdw sx="100000" sy="100000" kx="0" ky="0" algn="bl" rotWithShape="0" blurRad="0" dist="20320" dir="2700000">
              <a:srgbClr val="151617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93790" y="1975604"/>
            <a:ext cx="4196358" cy="121920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/>
        </p:spPr>
      </p:sp>
      <p:sp>
        <p:nvSpPr>
          <p:cNvPr id="5" name="Shape 3"/>
          <p:cNvSpPr/>
          <p:nvPr/>
        </p:nvSpPr>
        <p:spPr>
          <a:xfrm>
            <a:off x="2551688" y="166592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51617"/>
          </a:solidFill>
          <a:ln/>
        </p:spPr>
      </p:sp>
      <p:sp>
        <p:nvSpPr>
          <p:cNvPr id="6" name="Text 4"/>
          <p:cNvSpPr/>
          <p:nvPr/>
        </p:nvSpPr>
        <p:spPr>
          <a:xfrm>
            <a:off x="2755761" y="183606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2573060"/>
            <a:ext cx="3681770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LLM costs exceed budget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1051084" y="3559731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Aggressive caching (60%+), batch processing, model tiering (GPT-3.5 for simple tasks)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2006084"/>
            <a:ext cx="4196358" cy="2899648"/>
          </a:xfrm>
          <a:prstGeom prst="roundRect">
            <a:avLst>
              <a:gd name="adj" fmla="val 5046"/>
            </a:avLst>
          </a:prstGeom>
          <a:solidFill>
            <a:srgbClr val="F8ECE4"/>
          </a:solidFill>
          <a:ln/>
          <a:effectLst>
            <a:outerShdw sx="100000" sy="100000" kx="0" ky="0" algn="bl" rotWithShape="0" blurRad="0" dist="20320" dir="2700000">
              <a:srgbClr val="151617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16962" y="1975604"/>
            <a:ext cx="4196358" cy="121920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/>
        </p:spPr>
      </p:sp>
      <p:sp>
        <p:nvSpPr>
          <p:cNvPr id="11" name="Shape 9"/>
          <p:cNvSpPr/>
          <p:nvPr/>
        </p:nvSpPr>
        <p:spPr>
          <a:xfrm>
            <a:off x="6974860" y="166592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51617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933" y="183606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474256" y="2573060"/>
            <a:ext cx="3681770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Model accuracy insufficient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5474256" y="3559731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Define minimum viable accuracy Week 2, ship &amp; iterate post-launch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640133" y="2006084"/>
            <a:ext cx="4196358" cy="2899648"/>
          </a:xfrm>
          <a:prstGeom prst="roundRect">
            <a:avLst>
              <a:gd name="adj" fmla="val 5046"/>
            </a:avLst>
          </a:prstGeom>
          <a:solidFill>
            <a:srgbClr val="F8ECE4"/>
          </a:solidFill>
          <a:ln/>
          <a:effectLst>
            <a:outerShdw sx="100000" sy="100000" kx="0" ky="0" algn="bl" rotWithShape="0" blurRad="0" dist="20320" dir="2700000">
              <a:srgbClr val="151617">
                <a:alpha val="1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40133" y="1975604"/>
            <a:ext cx="4196358" cy="121920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98032" y="166592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51617"/>
          </a:solidFill>
          <a:ln/>
        </p:spPr>
      </p:sp>
      <p:sp>
        <p:nvSpPr>
          <p:cNvPr id="18" name="Text 16"/>
          <p:cNvSpPr/>
          <p:nvPr/>
        </p:nvSpPr>
        <p:spPr>
          <a:xfrm>
            <a:off x="11602105" y="183606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897427" y="257306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Integration delays</a:t>
            </a:r>
            <a:endParaRPr lang="en-US" sz="2650" dirty="0"/>
          </a:p>
        </p:txBody>
      </p:sp>
      <p:sp>
        <p:nvSpPr>
          <p:cNvPr id="20" name="Text 18"/>
          <p:cNvSpPr/>
          <p:nvPr/>
        </p:nvSpPr>
        <p:spPr>
          <a:xfrm>
            <a:off x="9897427" y="3134439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Weekly backend/frontend syncs, API contract locked Week 1, mock endpoints ready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93790" y="5472708"/>
            <a:ext cx="6407944" cy="2111454"/>
          </a:xfrm>
          <a:prstGeom prst="roundRect">
            <a:avLst>
              <a:gd name="adj" fmla="val 6929"/>
            </a:avLst>
          </a:prstGeom>
          <a:solidFill>
            <a:srgbClr val="F8ECE4"/>
          </a:solidFill>
          <a:ln/>
          <a:effectLst>
            <a:outerShdw sx="100000" sy="100000" kx="0" ky="0" algn="bl" rotWithShape="0" blurRad="0" dist="20320" dir="2700000">
              <a:srgbClr val="151617">
                <a:alpha val="10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93790" y="5442228"/>
            <a:ext cx="6407944" cy="121920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540" y="5132546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51617"/>
          </a:solidFill>
          <a:ln/>
        </p:spPr>
      </p:sp>
      <p:sp>
        <p:nvSpPr>
          <p:cNvPr id="24" name="Text 22"/>
          <p:cNvSpPr/>
          <p:nvPr/>
        </p:nvSpPr>
        <p:spPr>
          <a:xfrm>
            <a:off x="3861614" y="530268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51084" y="6039683"/>
            <a:ext cx="350853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 quality issues</a:t>
            </a:r>
            <a:endParaRPr lang="en-US" sz="2650" dirty="0"/>
          </a:p>
        </p:txBody>
      </p:sp>
      <p:sp>
        <p:nvSpPr>
          <p:cNvPr id="26" name="Text 24"/>
          <p:cNvSpPr/>
          <p:nvPr/>
        </p:nvSpPr>
        <p:spPr>
          <a:xfrm>
            <a:off x="1051084" y="6601063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Validation pipeline, quality dashboards, automated alerts on anomalies</a:t>
            </a:r>
            <a:endParaRPr lang="en-US" sz="1750" dirty="0"/>
          </a:p>
        </p:txBody>
      </p:sp>
      <p:sp>
        <p:nvSpPr>
          <p:cNvPr id="27" name="Shape 25"/>
          <p:cNvSpPr/>
          <p:nvPr/>
        </p:nvSpPr>
        <p:spPr>
          <a:xfrm>
            <a:off x="7428548" y="5472708"/>
            <a:ext cx="6407944" cy="2111454"/>
          </a:xfrm>
          <a:prstGeom prst="roundRect">
            <a:avLst>
              <a:gd name="adj" fmla="val 6929"/>
            </a:avLst>
          </a:prstGeom>
          <a:solidFill>
            <a:srgbClr val="F8ECE4"/>
          </a:solidFill>
          <a:ln/>
          <a:effectLst>
            <a:outerShdw sx="100000" sy="100000" kx="0" ky="0" algn="bl" rotWithShape="0" blurRad="0" dist="20320" dir="2700000">
              <a:srgbClr val="151617">
                <a:alpha val="10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428548" y="5442228"/>
            <a:ext cx="6407944" cy="121920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92298" y="5132546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51617"/>
          </a:solidFill>
          <a:ln/>
        </p:spPr>
      </p:sp>
      <p:sp>
        <p:nvSpPr>
          <p:cNvPr id="30" name="Text 28"/>
          <p:cNvSpPr/>
          <p:nvPr/>
        </p:nvSpPr>
        <p:spPr>
          <a:xfrm>
            <a:off x="10496371" y="530268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5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7685842" y="6039683"/>
            <a:ext cx="560486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Scaling under production load</a:t>
            </a:r>
            <a:endParaRPr lang="en-US" sz="2650" dirty="0"/>
          </a:p>
        </p:txBody>
      </p:sp>
      <p:sp>
        <p:nvSpPr>
          <p:cNvPr id="32" name="Text 30"/>
          <p:cNvSpPr/>
          <p:nvPr/>
        </p:nvSpPr>
        <p:spPr>
          <a:xfrm>
            <a:off x="7685842" y="6601063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Load testing Week 5, Kubernetes auto-scaling, fallback modes configured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0"/>
            <a:ext cx="585216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07939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Technologies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2515076"/>
            <a:ext cx="719066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FastAPI, PostgreSQL+pgvector, Redis, Azure OpenAI, Kubernetes, Prometheus/Grafana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93790" y="3790626"/>
            <a:ext cx="7190661" cy="35957"/>
          </a:xfrm>
          <a:prstGeom prst="rect">
            <a:avLst/>
          </a:prstGeom>
          <a:solidFill>
            <a:srgbClr val="151617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93790" y="416671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Contact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793790" y="4932164"/>
            <a:ext cx="719066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#ai-team (Slack)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374362"/>
            <a:ext cx="719066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Notion docs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5816560"/>
            <a:ext cx="719066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PagerDuty on-call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258758"/>
            <a:ext cx="719066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Weekly Friday updates to leadership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2025-12-14T15:30:44Z</dcterms:created>
  <dcterms:modified xsi:type="dcterms:W3CDTF">2025-12-14T15:30:44Z</dcterms:modified>
</cp:coreProperties>
</file>